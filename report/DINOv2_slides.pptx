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432000"/>
            <a:ext cx="11612952" cy="126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468000"/>
            <a:ext cx="11324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DINOv2: Learning Robust Visual Features without Supervision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11324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9900"/>
                </a:solidFill>
              </a:rPr>
              <a:t>Báo cáo Thực nghiệm — Môn Thị giác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980000"/>
            <a:ext cx="1218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Vũ Minh Hoàng Tùng  ·  Lê Mai Việt Hoàng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232000"/>
            <a:ext cx="1218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Tạ Đình Kiên  ·  Nguyễn Quốc Toản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59200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3366"/>
                </a:solidFill>
              </a:rPr>
              <a:t>Trường Đại học Công nghệ — Đại học Quốc gia Hà Nội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84400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3366"/>
                </a:solidFill>
              </a:rPr>
              <a:t>Giảng viên hướng dẫn: PGS. TS Lê Thanh Hà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16800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</a:rPr>
              <a:t>Hà Nội,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Nội dung trình bày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55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Lý thuyết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1025999"/>
            <a:ext cx="5878476" cy="936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" y="1061999"/>
            <a:ext cx="5698476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1.  Bài toán &amp; Động lực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      Bối cảnh, SSL, Foundation Model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2.  Phương pháp DINOv2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      Dữ liệu, Kiến trúc, Objective, Scale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6476" y="755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8476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Thực nghiệm &amp; Đánh giá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6476" y="1025999"/>
            <a:ext cx="5878476" cy="936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476" y="1061999"/>
            <a:ext cx="5698476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3.  Thực nghiệm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      Phân loại ảnh y tế, Phân đoạn Zero-Shot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4.  Đánh giá &amp; Ứng dụng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      Điểm mạnh/yếu, Khả năng triển khai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6282000"/>
            <a:ext cx="1182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3366"/>
                </a:solidFill>
              </a:rPr>
              <a:t>Oquab et al., “DINOv2: Learning Robust Visual Features without Supervision”, TMLR 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889000"/>
            <a:ext cx="12188952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1. Bài toán &amp; Động lực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Bối cảnh: Nghịch lý dữ liệu thị giác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55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Thực trạng hiện nay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1025999"/>
            <a:ext cx="5878476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" y="1061999"/>
            <a:ext cx="5698476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Ảnh internet: hàng tỷ, tăng không ngừng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Nhãn (label): khan hiếm, tốn kém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Gán nhãn thủ công: không thể scale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" y="1619999"/>
            <a:ext cx="5878476" cy="270000"/>
          </a:xfrm>
          <a:prstGeom prst="rect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000" y="1619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Hạn chế các hướng tiếp cận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000" y="1889999"/>
            <a:ext cx="5878476" cy="936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000" y="1925999"/>
            <a:ext cx="5698476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Text-guided (CLIP, OpenCLIP):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  Phụ thuộc caption — bỏ sót chi tiết thị giác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SSL cũ (DINO, MAE, iBOT):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  Chủ yếu test trên ImageNet, yếu khi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6476" y="755999"/>
            <a:ext cx="5878476" cy="270000"/>
          </a:xfrm>
          <a:prstGeom prst="rect">
            <a:avLst/>
          </a:prstGeom>
          <a:solidFill>
            <a:srgbClr val="1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8476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Câu hỏi nghiên cứu cốt lõi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6476" y="1025999"/>
            <a:ext cx="5878476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4476" y="1061999"/>
            <a:ext cx="5698476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"Liệu Self-Supervised Learning có thể tạo ra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các visual features tổng quát, không cần nhãn,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dùng trực tiếp cho nhiều tác vụ thị giác?"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6476" y="1907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8476" y="1907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Yêu cầu đặt 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6476" y="2177999"/>
            <a:ext cx="5878476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4476" y="2213999"/>
            <a:ext cx="5698476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Mạnh cả image-level: classification, retrieval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Mạnh cả pixel-level: segmentation, depth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Dùng được ở trạng thái frozen — không cần fine-tune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Self-Supervised Learning &amp; Foundation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55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Self-Supervised Learning (SSL)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1025999"/>
            <a:ext cx="5878476" cy="936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" y="1061999"/>
            <a:ext cx="5698476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Tín hiệu học được sinh ra từ chính dữ liệu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Giải pretext task (không cần nhãn):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  dự đoán vùng bị che, nhất quán giữa augmentations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Tận dụng kho ảnh web khổng lồ không gán nhãn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" y="1907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000" y="1907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Foundation Model (Mô hình nền tảng)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000" y="2177999"/>
            <a:ext cx="5878476" cy="936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000" y="2213999"/>
            <a:ext cx="5698476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Pretrain 1 lần trên dữ liệu lớn, đa dạng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Biểu diễn tái sử dụng cho nhiều downstream tasks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Frozen backbone + head đơn giản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Giống GPT/BERT trong NLP</a:t>
            </a:r>
          </a:p>
        </p:txBody>
      </p:sp>
      <p:pic>
        <p:nvPicPr>
          <p:cNvPr id="14" name="Picture 13" descr="fig1.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476" y="755999"/>
            <a:ext cx="5878476" cy="126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66476" y="2033999"/>
            <a:ext cx="587847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Hình 1: PCA visualization của patch features: DINOv2 nhận ra các vùng tương ứng giữa những ảnh liên quan dù thay đổi tư thế, phong cách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6476" y="2321999"/>
            <a:ext cx="5878476" cy="720000"/>
          </a:xfrm>
          <a:prstGeom prst="rect">
            <a:avLst/>
          </a:prstGeom>
          <a:solidFill>
            <a:srgbClr val="FFF5C8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8476" y="2357999"/>
            <a:ext cx="5734476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</a:rPr>
              <a:t>DINOv2 = SSL ở quy mô lớn
⇓
Visual Foundation Model
Không nhãn, không caption — học thuần từ ảnh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Tiến trình phát triển SSL &amp; Vị trí của DINOv2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55999"/>
            <a:ext cx="1152000" cy="270000"/>
          </a:xfrm>
          <a:prstGeom prst="rect">
            <a:avLst/>
          </a:prstGeom>
          <a:solidFill>
            <a:srgbClr val="DCE6F5"/>
          </a:solidFill>
          <a:ln w="9525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755999"/>
            <a:ext cx="1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Giai đoạn</a:t>
            </a:r>
          </a:p>
        </p:txBody>
      </p:sp>
      <p:sp>
        <p:nvSpPr>
          <p:cNvPr id="8" name="Rectangle 7"/>
          <p:cNvSpPr/>
          <p:nvPr/>
        </p:nvSpPr>
        <p:spPr>
          <a:xfrm>
            <a:off x="1296000" y="755999"/>
            <a:ext cx="864000" cy="270000"/>
          </a:xfrm>
          <a:prstGeom prst="rect">
            <a:avLst/>
          </a:prstGeom>
          <a:solidFill>
            <a:srgbClr val="DCE6F5"/>
          </a:solidFill>
          <a:ln w="9525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2000" y="755999"/>
            <a:ext cx="79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Đại diện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0" y="755999"/>
            <a:ext cx="1512000" cy="270000"/>
          </a:xfrm>
          <a:prstGeom prst="rect">
            <a:avLst/>
          </a:prstGeom>
          <a:solidFill>
            <a:srgbClr val="DCE6F5"/>
          </a:solidFill>
          <a:ln w="9525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6000" y="755999"/>
            <a:ext cx="1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Đặc điểm chính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2000" y="755999"/>
            <a:ext cx="1368000" cy="270000"/>
          </a:xfrm>
          <a:prstGeom prst="rect">
            <a:avLst/>
          </a:prstGeom>
          <a:solidFill>
            <a:srgbClr val="DCE6F5"/>
          </a:solidFill>
          <a:ln w="9525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8000" y="755999"/>
            <a:ext cx="129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Hạn chế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000" y="1025999"/>
            <a:ext cx="1152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0000" y="1025999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Instance discrimination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96000" y="1025999"/>
            <a:ext cx="864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32000" y="1025999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SimCLR, MoCo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0000" y="1025999"/>
            <a:ext cx="1512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6000" y="1025999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Học tương phản mức ảnh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2000" y="1025999"/>
            <a:ext cx="1368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8000" y="1025999"/>
            <a:ext cx="12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Chỉ mạnh ở image-level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4000" y="1277998"/>
            <a:ext cx="1152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0000" y="1277998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SSL với ViT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96000" y="1277998"/>
            <a:ext cx="864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2000" y="1277998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DINO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60000" y="1277998"/>
            <a:ext cx="1512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6000" y="1277998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Đặc trưng phân vùng ảnh tự phát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72000" y="1277998"/>
            <a:ext cx="1368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8000" y="1277998"/>
            <a:ext cx="12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Quy mô dữ liệu hạn chế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4000" y="1529997"/>
            <a:ext cx="1152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0000" y="1529997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Masked pretraining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96000" y="1529997"/>
            <a:ext cx="864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32000" y="1529997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MAE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60000" y="1529997"/>
            <a:ext cx="1512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6000" y="1529997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Che và tái tạo ảnh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72000" y="1529997"/>
            <a:ext cx="1368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08000" y="1529997"/>
            <a:ext cx="12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Thường cần fine-tune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4000" y="1781996"/>
            <a:ext cx="1152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0000" y="1781996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Patch-level SSL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96000" y="1781996"/>
            <a:ext cx="864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32000" y="1781996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iBOT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60000" y="1781996"/>
            <a:ext cx="1512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96000" y="1781996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DINO + masked image modeling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72000" y="1781996"/>
            <a:ext cx="1368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08000" y="1781996"/>
            <a:ext cx="12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Khó scale, dữ liệu nhỏ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4000" y="2033995"/>
            <a:ext cx="1152000" cy="251999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0000" y="2033995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DINOv2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96000" y="2033995"/>
            <a:ext cx="864000" cy="251999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32000" y="2033995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DINOv2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60000" y="2033995"/>
            <a:ext cx="1512000" cy="251999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6000" y="2033995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Curated data + SSL recipe + Distillation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72000" y="2033995"/>
            <a:ext cx="1368000" cy="251999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08000" y="2033995"/>
            <a:ext cx="12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Hướng tới frozen features tổng quát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4000" y="2321994"/>
            <a:ext cx="489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Bảng 1: Tiến trình phát triển SSL và vị trí của DINOv2</a:t>
            </a:r>
          </a:p>
        </p:txBody>
      </p:sp>
      <p:pic>
        <p:nvPicPr>
          <p:cNvPr id="55" name="Picture 54" descr="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000" y="755999"/>
            <a:ext cx="6896952" cy="8640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184000" y="1637999"/>
            <a:ext cx="6896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Bảng 2: So sánh nguồn dữ liệu pretraining: LVD-142M cho kết quả vượt trội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84000" y="1871998"/>
            <a:ext cx="6896952" cy="270000"/>
          </a:xfrm>
          <a:prstGeom prst="rect">
            <a:avLst/>
          </a:prstGeom>
          <a:solidFill>
            <a:srgbClr val="1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56000" y="1871998"/>
            <a:ext cx="6752952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Điểm khác biệt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84000" y="2141998"/>
            <a:ext cx="6896952" cy="540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92000" y="2177998"/>
            <a:ext cx="6716952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Giải quyết đồng thời: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chất lượng dữ liệu + thuật toán SSL + kỹ thuật scale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889000"/>
            <a:ext cx="12188952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2. Phương pháp DINOv2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Tổng quan Pipeline DINOv2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64478" y="827999"/>
            <a:ext cx="827999" cy="576000"/>
          </a:xfrm>
          <a:prstGeom prst="rect">
            <a:avLst/>
          </a:prstGeom>
          <a:solidFill>
            <a:srgbClr val="DCE6F5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0478" y="845999"/>
            <a:ext cx="755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66"/>
                </a:solidFill>
              </a:rPr>
              <a:t>1.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0478" y="1043999"/>
            <a:ext cx="7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</a:rPr>
              <a:t>LVD-142M
(curated)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0477" y="1025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3366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2477" y="827999"/>
            <a:ext cx="827999" cy="576000"/>
          </a:xfrm>
          <a:prstGeom prst="rect">
            <a:avLst/>
          </a:prstGeom>
          <a:solidFill>
            <a:srgbClr val="DCE6F5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8477" y="845999"/>
            <a:ext cx="755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66"/>
                </a:solidFill>
              </a:rPr>
              <a:t>2. Kiến trúc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8477" y="1043999"/>
            <a:ext cx="7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</a:rPr>
              <a:t>ViT
Student–Teacher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8476" y="1025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3366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80476" y="827999"/>
            <a:ext cx="827999" cy="576000"/>
          </a:xfrm>
          <a:prstGeom prst="rect">
            <a:avLst/>
          </a:prstGeom>
          <a:solidFill>
            <a:srgbClr val="DCE6F5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6476" y="845999"/>
            <a:ext cx="755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66"/>
                </a:solidFill>
              </a:rPr>
              <a:t>3.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6476" y="1043999"/>
            <a:ext cx="7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</a:rPr>
              <a:t>DINO + iBOT
+ KoLeo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6475" y="1025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3366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88475" y="827999"/>
            <a:ext cx="827999" cy="576000"/>
          </a:xfrm>
          <a:prstGeom prst="rect">
            <a:avLst/>
          </a:prstGeom>
          <a:solidFill>
            <a:srgbClr val="DCE6F5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4475" y="845999"/>
            <a:ext cx="755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66"/>
                </a:solidFill>
              </a:rPr>
              <a:t>4.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475" y="1043999"/>
            <a:ext cx="7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</a:rPr>
              <a:t>FlashAttn
FSDP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4474" y="1025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3366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6474" y="827999"/>
            <a:ext cx="827999" cy="576000"/>
          </a:xfrm>
          <a:prstGeom prst="rect">
            <a:avLst/>
          </a:prstGeom>
          <a:solidFill>
            <a:srgbClr val="DCE6F5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32474" y="845999"/>
            <a:ext cx="755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366"/>
                </a:solidFill>
              </a:rPr>
              <a:t>5. Distill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2474" y="1043999"/>
            <a:ext cx="7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</a:rPr>
              <a:t>ViT-g/14
→ S/B/L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" y="1547999"/>
            <a:ext cx="3918984" cy="270000"/>
          </a:xfrm>
          <a:prstGeom prst="rect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6000" y="1547999"/>
            <a:ext cx="3774984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Ràng buộc quan trọng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4000" y="1817999"/>
            <a:ext cx="3918984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2000" y="1853999"/>
            <a:ext cx="3738984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Không dùng nhãn lớp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Không dùng caption văn bản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Học thuần từ ảnh thô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34984" y="1547999"/>
            <a:ext cx="3918984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984" y="1547999"/>
            <a:ext cx="3774984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Mục tiêu đầu 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34984" y="1817999"/>
            <a:ext cx="3918984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42984" y="1853999"/>
            <a:ext cx="3738984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Frozen backbone dùng ngay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Tốt cả image &amp; patch level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Family: ViT-S/B/L/g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5968" y="1547999"/>
            <a:ext cx="3918984" cy="270000"/>
          </a:xfrm>
          <a:prstGeom prst="rect">
            <a:avLst/>
          </a:prstGeom>
          <a:solidFill>
            <a:srgbClr val="1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7968" y="1547999"/>
            <a:ext cx="3774984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Đánh giá chính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5968" y="1817999"/>
            <a:ext cx="3918984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3968" y="1853999"/>
            <a:ext cx="3738984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Linear probe (frozen)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Classification, segmentation,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  depth, video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Bước 1: Xây dựng dữ liệu LVD-142M</a:t>
            </a:r>
          </a:p>
        </p:txBody>
      </p:sp>
      <p:pic>
        <p:nvPicPr>
          <p:cNvPr id="6" name="Picture 5" descr="fig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755999"/>
            <a:ext cx="6402034" cy="14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000" y="2213999"/>
            <a:ext cx="6402034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Hình 2: Quy trình xử lý: ảnh thô → embedding → dedup → retrieval → LVD-142M</a:t>
            </a:r>
          </a:p>
        </p:txBody>
      </p:sp>
      <p:sp>
        <p:nvSpPr>
          <p:cNvPr id="8" name="Rectangle 7"/>
          <p:cNvSpPr/>
          <p:nvPr/>
        </p:nvSpPr>
        <p:spPr>
          <a:xfrm>
            <a:off x="6798034" y="755999"/>
            <a:ext cx="5133249" cy="270000"/>
          </a:xfrm>
          <a:prstGeom prst="rect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70034" y="755999"/>
            <a:ext cx="498924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Vấn đề dữ liệu web thô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98034" y="1025999"/>
            <a:ext cx="5133249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6034" y="1061999"/>
            <a:ext cx="4953249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Nhiễu, trùng lặp nhiều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Mất cân bằng nội dung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Không kiểm soát được chất lượng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8034" y="1655999"/>
            <a:ext cx="524124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Pipeline 3 bước: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8034" y="1835999"/>
            <a:ext cx="513324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1. Embedding: ViT-H/16 → vector đặc trưng mỗi ảnh
2. Deduplication: loại ảnh gần trùng bằng PCA hash + copy detection
3. Retrieval: tìm k-NN gần nhất từ tập curated seed (Faiss + GPU)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98034" y="2663998"/>
            <a:ext cx="5133249" cy="270000"/>
          </a:xfrm>
          <a:prstGeom prst="rect">
            <a:avLst/>
          </a:prstGeom>
          <a:solidFill>
            <a:srgbClr val="1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0034" y="2663998"/>
            <a:ext cx="498924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Kết quả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98034" y="2933998"/>
            <a:ext cx="5133249" cy="342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6034" y="2969998"/>
            <a:ext cx="495324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142 triệu ảnh — đa dạng, cân bằng, ít nhiễu hơn web thô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Bước 2: Kiến trúc ViT &amp; Cơ chế Student–Teacher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55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Vision Transformer (ViT)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1025999"/>
            <a:ext cx="5878476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" y="1061999"/>
            <a:ext cx="5698476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Ảnh → patch tokens: biểu diễn từng vùng 14×14 px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CLS token: biểu diễn tổng quát toàn ảnh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4 kích thước: ViT-S/B/L/g với patch size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" y="1763998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000" y="1763998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CLS token vs Patch 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000" y="2033998"/>
            <a:ext cx="5878476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000" y="2069998"/>
            <a:ext cx="5698476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CLS token  →  classification, retrieval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Patch tokens  →  segmentation, depth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DINOv2 tối ưu cả hai loại trong cùng một backbone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6476" y="755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8476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Cơ chế Student–Teacher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6476" y="1025999"/>
            <a:ext cx="5878476" cy="936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4476" y="1061999"/>
            <a:ext cx="5698476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Student: nhận nhiều crops khác nhau → cập nhật bằng gradient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Teacher: EMA của student → tạo target ổn định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  θ_t ← m·θ_t + (1-m)·θ_s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Không có gradient nào chạy qua teacher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6476" y="1907999"/>
            <a:ext cx="5878476" cy="270000"/>
          </a:xfrm>
          <a:prstGeom prst="rect">
            <a:avLst/>
          </a:prstGeom>
          <a:solidFill>
            <a:srgbClr val="1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8476" y="1907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Trực giác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6476" y="2177999"/>
            <a:ext cx="5878476" cy="342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4476" y="2213999"/>
            <a:ext cx="5698476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Dù nhìn các crop khác nhau của cùng một ảnh, student phải học biểu diễn nhất quán — teacher làm 'giám khảo' ổn định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Bước 3: Objective Huấn luyện Tự giám sát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55999"/>
            <a:ext cx="3918984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755999"/>
            <a:ext cx="3774984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DINO Loss (Image-level)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1025999"/>
            <a:ext cx="3918984" cy="936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" y="1061999"/>
            <a:ext cx="3738984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CLS token student khớp với teacher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Cross-entropy: p_s vs p_t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Sinkhorn-Knopp centering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L_DINO = -Σ p_t log p_s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4984" y="755999"/>
            <a:ext cx="3918984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984" y="755999"/>
            <a:ext cx="3774984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iBOT Loss (Patch-level)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4984" y="1025999"/>
            <a:ext cx="3918984" cy="936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984" y="1061999"/>
            <a:ext cx="3738984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Mask ngẫu nhiên các patch của student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Student đoán phân phối patch bị che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Head tách biệt với DINO head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L_iBOT = -Σ_i p_ti log p_si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5968" y="755999"/>
            <a:ext cx="3918984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7968" y="755999"/>
            <a:ext cx="3774984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KoLeo Regularizer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5968" y="1025999"/>
            <a:ext cx="3918984" cy="936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3968" y="1061999"/>
            <a:ext cx="3738984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Trải đều embedding trong không gian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Phạt khi features tụ quá gần nhau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Hữu ích cho retrieval tasks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L_koleo = -(1/n) Σ_i log d_{n,i}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4476" y="2123999"/>
            <a:ext cx="2160000" cy="468000"/>
          </a:xfrm>
          <a:prstGeom prst="rect">
            <a:avLst/>
          </a:prstGeom>
          <a:solidFill>
            <a:srgbClr val="FFF5C8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6476" y="2159999"/>
            <a:ext cx="20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L = L_DINO + L_iBOT + λ·L_koleo
Image-level + patch-level trong cùng backbone</a:t>
            </a:r>
          </a:p>
        </p:txBody>
      </p:sp>
      <p:pic>
        <p:nvPicPr>
          <p:cNvPr id="20" name="Picture 19" descr="tabl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476" y="2123999"/>
            <a:ext cx="5122476" cy="792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58476" y="2933999"/>
            <a:ext cx="5122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Bảng 3: Ablation — KoLeo cải thiện retrieval; iBOT/MIM giúp dense prediction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Bước 4: Scale &amp; Kỹ thuật Triển khai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55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Kỹ thuật tối ưu bộ nhớ &amp; tốc độ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1025999"/>
            <a:ext cx="5878476" cy="936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" y="1061999"/>
            <a:ext cx="5698476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FlashAttention: attention tiết kiệm bộ nhớ, tăng tốc self-attention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Sequence Packing: ghép nhiều crop, block-diagonal attention mask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Efficient Stochastic Depth: bỏ qua computation của residual bị drop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FSDP: shard model + optimizer qua nhiều GPU, train ViT-g &gt;1B params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" y="2015999"/>
            <a:ext cx="5878476" cy="270000"/>
          </a:xfrm>
          <a:prstGeom prst="rect">
            <a:avLst/>
          </a:prstGeom>
          <a:solidFill>
            <a:srgbClr val="1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000" y="201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Hiệu quả so với iBOT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000" y="2285999"/>
            <a:ext cx="5878476" cy="342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000" y="2321999"/>
            <a:ext cx="5698476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Nhanh gấp 2×     |     Tiết kiệm 3× bộ nhớ GPU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6476" y="755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8476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High-Resolution Adaptation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6476" y="1025999"/>
            <a:ext cx="5878476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4476" y="1061999"/>
            <a:ext cx="5698476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Train chủ yếu ở 224×224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Giai đoạn ngắn cuối: 518×518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Chi phí thấp, gần đạt chất lượng full high-res</a:t>
            </a:r>
          </a:p>
        </p:txBody>
      </p:sp>
      <p:pic>
        <p:nvPicPr>
          <p:cNvPr id="18" name="Picture 17" descr="fig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476" y="1619999"/>
            <a:ext cx="5878476" cy="108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66476" y="2717999"/>
            <a:ext cx="5878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Hình 3: Chuyển sang 518px cuối pretraining: cải thiện cả ImageNet-1k và ADE20K với ít compute hơn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Bước 5: Distillation — Xây dựng Model Family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55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Tại sao cần Distillation?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1025999"/>
            <a:ext cx="5878476" cy="936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" y="1061999"/>
            <a:ext cx="5698476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Train từng kích thước từ đầu: rất tốn kém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Distillation: model nhỏ kế thừa chất lượng từ ViT-g/14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ViT-g/14 (teacher cố định) → student học tái tạo output của teacher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EMA của student được giữ làm model cuối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" y="1907999"/>
            <a:ext cx="900000" cy="216000"/>
          </a:xfrm>
          <a:prstGeom prst="rect">
            <a:avLst/>
          </a:prstGeom>
          <a:solidFill>
            <a:srgbClr val="DCE6F5"/>
          </a:solidFill>
          <a:ln w="9525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000" y="1907999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000" y="1907999"/>
            <a:ext cx="720000" cy="216000"/>
          </a:xfrm>
          <a:prstGeom prst="rect">
            <a:avLst/>
          </a:prstGeom>
          <a:solidFill>
            <a:srgbClr val="DCE6F5"/>
          </a:solidFill>
          <a:ln w="9525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000" y="1907999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Params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64000" y="1907999"/>
            <a:ext cx="648000" cy="216000"/>
          </a:xfrm>
          <a:prstGeom prst="rect">
            <a:avLst/>
          </a:prstGeom>
          <a:solidFill>
            <a:srgbClr val="DCE6F5"/>
          </a:solidFill>
          <a:ln w="9525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00000" y="1907999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Patch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4000" y="2123999"/>
            <a:ext cx="9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0000" y="2123999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ViT-S/14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4000" y="2123999"/>
            <a:ext cx="72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0000" y="2123999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~21M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64000" y="2123999"/>
            <a:ext cx="648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0" y="2123999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14px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4000" y="2339999"/>
            <a:ext cx="9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0000" y="2339999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ViT-B/14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000" y="2339999"/>
            <a:ext cx="72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0000" y="2339999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~86M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64000" y="2339999"/>
            <a:ext cx="648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0000" y="2339999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14px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4000" y="2555999"/>
            <a:ext cx="9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0000" y="2555999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ViT-L/14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4000" y="2555999"/>
            <a:ext cx="72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000" y="2555999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~307M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64000" y="2555999"/>
            <a:ext cx="648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00000" y="2555999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14px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4000" y="2771999"/>
            <a:ext cx="9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0000" y="2771999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ViT-g/14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4000" y="2771999"/>
            <a:ext cx="72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0000" y="2771999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~1.1B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64000" y="2771999"/>
            <a:ext cx="648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00000" y="2771999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14px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4000" y="3005999"/>
            <a:ext cx="22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Bảng 4: Family model DINOv2 được công bố</a:t>
            </a:r>
          </a:p>
        </p:txBody>
      </p:sp>
      <p:pic>
        <p:nvPicPr>
          <p:cNvPr id="41" name="Picture 40" descr="fig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476" y="755999"/>
            <a:ext cx="5878476" cy="1440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66476" y="2213999"/>
            <a:ext cx="5878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Hình 4: ViT-L/14 distilled từ ViT-g/14 vượt ViT-L/14 train từ scratch trên nhiều benchmark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6476" y="2429999"/>
            <a:ext cx="5878476" cy="270000"/>
          </a:xfrm>
          <a:prstGeom prst="rect">
            <a:avLst/>
          </a:prstGeom>
          <a:solidFill>
            <a:srgbClr val="1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8476" y="2429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Kết quả nổi bật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66476" y="2699999"/>
            <a:ext cx="5878476" cy="342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74476" y="2735999"/>
            <a:ext cx="5698476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ViT-L/14 distilled luôn vượt ViT-L/14 train từ đầu → distillation không chỉ tiết kiệm compute mà còn cải thiện chất lượng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Kết quả từ Paper: DINOv2 so với SOTA</a:t>
            </a:r>
          </a:p>
        </p:txBody>
      </p:sp>
      <p:pic>
        <p:nvPicPr>
          <p:cNvPr id="6" name="Picture 5" descr="fig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755999"/>
            <a:ext cx="6230255" cy="93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000" y="1709999"/>
            <a:ext cx="6230255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Hình 5: Scaling performance — DINOv2 cải thiện mạnh theo kích thước model, đạt mức cạnh tranh với weakly-supervised</a:t>
            </a:r>
          </a:p>
        </p:txBody>
      </p:sp>
      <p:pic>
        <p:nvPicPr>
          <p:cNvPr id="8" name="Picture 7" descr="tabl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00" y="1925999"/>
            <a:ext cx="6230255" cy="72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4000" y="2663999"/>
            <a:ext cx="6230255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Bảng 5: Linear evaluation ImageNet-1k — DINOv2 ViT-g đạt 86.5%, ngang OpenCLIP và EVA-CLIP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8255" y="755999"/>
            <a:ext cx="5413028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0255" y="755999"/>
            <a:ext cx="5269028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Kết quả chính (Frozen backbone)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18255" y="1025999"/>
            <a:ext cx="5413028" cy="144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6255" y="1061999"/>
            <a:ext cx="5233028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18255" y="1036799"/>
            <a:ext cx="1260000" cy="198000"/>
          </a:xfrm>
          <a:prstGeom prst="rect">
            <a:avLst/>
          </a:prstGeom>
          <a:solidFill>
            <a:srgbClr val="DCE6F5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4255" y="1036799"/>
            <a:ext cx="12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Benchmark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8255" y="1036799"/>
            <a:ext cx="648000" cy="198000"/>
          </a:xfrm>
          <a:prstGeom prst="rect">
            <a:avLst/>
          </a:prstGeom>
          <a:solidFill>
            <a:srgbClr val="DCE6F5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4255" y="1036799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DINOv2-g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18255" y="1234799"/>
            <a:ext cx="1260000" cy="198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4255" y="1234799"/>
            <a:ext cx="12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ImageNet-1k (linear)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8255" y="1234799"/>
            <a:ext cx="648000" cy="198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4255" y="1234799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1414"/>
                </a:solidFill>
              </a:rPr>
              <a:t>86.5%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8255" y="1432799"/>
            <a:ext cx="1260000" cy="198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4255" y="1432799"/>
            <a:ext cx="12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ImageNet-A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8255" y="1432799"/>
            <a:ext cx="648000" cy="198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4255" y="1432799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1414"/>
                </a:solidFill>
              </a:rPr>
              <a:t>75.9%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8255" y="1630799"/>
            <a:ext cx="1260000" cy="198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4255" y="1630799"/>
            <a:ext cx="12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iNaturalist 2021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255" y="1630799"/>
            <a:ext cx="648000" cy="198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4255" y="1630799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1414"/>
                </a:solidFill>
              </a:rPr>
              <a:t>85.7%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8255" y="1828799"/>
            <a:ext cx="1260000" cy="198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4255" y="1828799"/>
            <a:ext cx="12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Kinetics-400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8255" y="1828799"/>
            <a:ext cx="648000" cy="198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4255" y="1828799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1414"/>
                </a:solidFill>
              </a:rPr>
              <a:t>78.4%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8255" y="2026799"/>
            <a:ext cx="1260000" cy="198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4255" y="2026799"/>
            <a:ext cx="12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ADE20K (mIoU)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8255" y="2026799"/>
            <a:ext cx="648000" cy="198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4255" y="2026799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1414"/>
                </a:solidFill>
              </a:rPr>
              <a:t>49.0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8255" y="2224799"/>
            <a:ext cx="1260000" cy="198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4255" y="2224799"/>
            <a:ext cx="12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NYUd depth (RMSE)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8255" y="2224799"/>
            <a:ext cx="648000" cy="198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4255" y="2224799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1414"/>
                </a:solidFill>
              </a:rPr>
              <a:t>0.344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18255" y="2494799"/>
            <a:ext cx="5413028" cy="270000"/>
          </a:xfrm>
          <a:prstGeom prst="rect">
            <a:avLst/>
          </a:prstGeom>
          <a:solidFill>
            <a:srgbClr val="1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0255" y="2494799"/>
            <a:ext cx="5269028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Kết luận từ paper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8255" y="2764799"/>
            <a:ext cx="5413028" cy="540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6255" y="2800799"/>
            <a:ext cx="5233028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SSL ≈ weakly-supervised nếu: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dữ liệu curated tốt + scale đủ lớn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18255" y="3214799"/>
            <a:ext cx="5413028" cy="270000"/>
          </a:xfrm>
          <a:prstGeom prst="rect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90255" y="3214799"/>
            <a:ext cx="5269028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Điểm đáng chú 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18255" y="3484799"/>
            <a:ext cx="5413028" cy="342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6255" y="3520799"/>
            <a:ext cx="5233028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Mạnh cả image-level lẫn dense tasks — điều SSL trước đó không đạt được đồng thời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889000"/>
            <a:ext cx="12188952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3. Thực nghiệm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Thực nghiệm 1: Phân loại ảnh Y tế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55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Bộ dữ liệu: SkinCancerMNIST (HAM10000)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1025999"/>
            <a:ext cx="5878476" cy="1134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" y="1061999"/>
            <a:ext cx="5698476" cy="10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10,015 ảnh nội soi da liễu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7 lớp bệnh lý: MEL, NV, BCC, AKIEC, BKL, DF, VASC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Thách thức: mất cân bằng nghiêm trọng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  NV &gt;67%   DF/VASC &lt;2%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Domain hoàn toàn mới với cả hai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" y="2015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000" y="201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Siêu tham số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000" y="2285999"/>
            <a:ext cx="5878476" cy="936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000" y="2321999"/>
            <a:ext cx="5698476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Batch size: 32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Max epochs: 20 + Early Stopping (patience=5)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Optimizer: Adam, LR = 1e-3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Loss: CrossEntropy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6476" y="755999"/>
            <a:ext cx="5878476" cy="270000"/>
          </a:xfrm>
          <a:prstGeom prst="rect">
            <a:avLst/>
          </a:prstGeom>
          <a:solidFill>
            <a:srgbClr val="1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8476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Phương pháp: Linear Probing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6476" y="1025999"/>
            <a:ext cx="5878476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4476" y="1061999"/>
            <a:ext cx="5698476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Đóng băng hoàn toàn backbone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Chỉ train 1 Linear Head phía trên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⇒ Đo trực tiếp chất lượng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6476" y="1691999"/>
            <a:ext cx="5878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Cấu hình so sánh: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6476" y="1889999"/>
            <a:ext cx="900000" cy="234000"/>
          </a:xfrm>
          <a:prstGeom prst="rect">
            <a:avLst/>
          </a:prstGeom>
          <a:solidFill>
            <a:srgbClr val="DCE6F5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2476" y="1889999"/>
            <a:ext cx="9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66476" y="1889999"/>
            <a:ext cx="4906476" cy="234000"/>
          </a:xfrm>
          <a:prstGeom prst="rect">
            <a:avLst/>
          </a:prstGeom>
          <a:solidFill>
            <a:srgbClr val="DCE6F5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2476" y="1889999"/>
            <a:ext cx="4906476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Pretrain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6476" y="2123999"/>
            <a:ext cx="900000" cy="234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2476" y="2123999"/>
            <a:ext cx="9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ViT-B/16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66476" y="2123999"/>
            <a:ext cx="4906476" cy="234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2476" y="2123999"/>
            <a:ext cx="4906476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Supervised trên ImageNet-1k (có nhãn)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6476" y="2357999"/>
            <a:ext cx="900000" cy="234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2476" y="2357999"/>
            <a:ext cx="9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DINOv2-ViT-B/14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66476" y="2357999"/>
            <a:ext cx="4906476" cy="234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02476" y="2357999"/>
            <a:ext cx="4906476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Self-supervised trên LVD-142M (không nhãn)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TN1: Kết quả Phân loại ảnh</a:t>
            </a:r>
          </a:p>
        </p:txBody>
      </p:sp>
      <p:pic>
        <p:nvPicPr>
          <p:cNvPr id="6" name="Picture 5" descr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755999"/>
            <a:ext cx="5878476" cy="9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000" y="1673999"/>
            <a:ext cx="5878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Hình 6: Tốc độ hội tụ (Validation Loss): DINOv2 (đỏ) ổn định và nhanh hơn từ đầu</a:t>
            </a:r>
          </a:p>
        </p:txBody>
      </p:sp>
      <p:pic>
        <p:nvPicPr>
          <p:cNvPr id="8" name="Picture 7" descr="performanc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00" y="1889999"/>
            <a:ext cx="5878476" cy="86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4000" y="2771999"/>
            <a:ext cx="5878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Hình 7: So sánh Accuracy và F1-Score trên tập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6476" y="755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8476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Kết quả trên tập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6476" y="1025999"/>
            <a:ext cx="5878476" cy="144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476" y="1061999"/>
            <a:ext cx="5698476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66476" y="1036799"/>
            <a:ext cx="1080000" cy="234000"/>
          </a:xfrm>
          <a:prstGeom prst="rect">
            <a:avLst/>
          </a:prstGeom>
          <a:solidFill>
            <a:srgbClr val="DCE6F5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4476" y="1036799"/>
            <a:ext cx="10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6476" y="1036799"/>
            <a:ext cx="540000" cy="234000"/>
          </a:xfrm>
          <a:prstGeom prst="rect">
            <a:avLst/>
          </a:prstGeom>
          <a:solidFill>
            <a:srgbClr val="DCE6F5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4476" y="1036799"/>
            <a:ext cx="5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86476" y="1036799"/>
            <a:ext cx="540000" cy="234000"/>
          </a:xfrm>
          <a:prstGeom prst="rect">
            <a:avLst/>
          </a:prstGeom>
          <a:solidFill>
            <a:srgbClr val="DCE6F5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4476" y="1036799"/>
            <a:ext cx="5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F1-Score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6476" y="1270799"/>
            <a:ext cx="1080000" cy="234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4476" y="1270799"/>
            <a:ext cx="10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ViT-B/16 (supervised)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6476" y="1270799"/>
            <a:ext cx="540000" cy="234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4476" y="1270799"/>
            <a:ext cx="5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82.63%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86476" y="1270799"/>
            <a:ext cx="540000" cy="234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04476" y="1270799"/>
            <a:ext cx="5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81.65%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6476" y="1504799"/>
            <a:ext cx="1080000" cy="234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4476" y="1504799"/>
            <a:ext cx="10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DINOv2 (SSL)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6476" y="1504799"/>
            <a:ext cx="540000" cy="234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4476" y="1504799"/>
            <a:ext cx="5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80.03%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86476" y="1504799"/>
            <a:ext cx="540000" cy="2340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04476" y="1504799"/>
            <a:ext cx="5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79.47%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6476" y="1774799"/>
            <a:ext cx="5878476" cy="270000"/>
          </a:xfrm>
          <a:prstGeom prst="rect">
            <a:avLst/>
          </a:prstGeom>
          <a:solidFill>
            <a:srgbClr val="1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8476" y="17747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Nhận xét quan trọng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6476" y="2044799"/>
            <a:ext cx="5878476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4476" y="2080799"/>
            <a:ext cx="5698476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Chênh lệch chỉ ≈2.6% mặc dù DINOv2 chưa từng thấy nhãn nào khi pretrain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DINOv2 hội tụ nhanh hơn và ổn định hơn trên domain mới (ảnh y tế)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ViT-B/16 bị domain-shift: shape bias từ ImageNet không khớp ảnh nội soi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66476" y="2782798"/>
            <a:ext cx="5878476" cy="270000"/>
          </a:xfrm>
          <a:prstGeom prst="rect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8476" y="2782798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Hạn chế chung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6476" y="3052798"/>
            <a:ext cx="5878476" cy="342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4476" y="3088798"/>
            <a:ext cx="5698476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Cả hai nhầm lẫn DF/VASC vào NV do mất cân bằng dữ liệu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TN1: Phân tích Ma trận Nhầm lẫn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755999"/>
            <a:ext cx="5878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DINOv2 (Self-Supervised)</a:t>
            </a:r>
          </a:p>
        </p:txBody>
      </p:sp>
      <p:pic>
        <p:nvPicPr>
          <p:cNvPr id="7" name="Picture 6" descr="confusion_matrix_dino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935999"/>
            <a:ext cx="5878476" cy="151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4000" y="2465999"/>
            <a:ext cx="5878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3366"/>
                </a:solidFill>
              </a:rPr>
              <a:t>Hình 8: Ma trận nhầm lẫn của DINOv2 (Self-Supervised)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6476" y="755999"/>
            <a:ext cx="5878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ViT-B/16 (ImageNet Supervised)</a:t>
            </a:r>
          </a:p>
        </p:txBody>
      </p:sp>
      <p:pic>
        <p:nvPicPr>
          <p:cNvPr id="10" name="Picture 9" descr="confusion_matrix_v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476" y="935999"/>
            <a:ext cx="5878476" cy="151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66476" y="2465999"/>
            <a:ext cx="5878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3366"/>
                </a:solidFill>
              </a:rPr>
              <a:t>Hình 9: Ma trận nhầm lẫn của ViT-B/16 (ImageNet Supervised)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" y="2699998"/>
            <a:ext cx="11900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Điểm chung: Nhận diện tốt NV (majority), yếu với DF, VASC (minority)
DINOv2: Patch features tốt cho texture cục bộ, bị nhiễu bởi bóng sáng / lông
ViT-B/16: Decision boundary cứng từ ImageNet → conservative hơn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Thực nghiệm 2: Phân đoạn Zero-Shot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55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Bộ dữ liệu: Oxford-IIIT Pet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1025999"/>
            <a:ext cx="5878476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" y="1061999"/>
            <a:ext cx="5698476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7,349 ảnh chó/mèo, 37 giống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Annotation trimap 3 lớp: pet / background / border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Split: 10 ảnh reference, 150 ảnh eval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" y="1619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000" y="1619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Phương pháp 1: Prototype-based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000" y="1889999"/>
            <a:ext cx="5878476" cy="540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000" y="1925999"/>
            <a:ext cx="5698476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10 ảnh reference → prototype vector mỗi class → cosine similarity → argmax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Chỉ cần 10 ảnh có nhãn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000" y="2339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000" y="2339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Phương pháp 2: Spherical KMeans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4000" y="2609999"/>
            <a:ext cx="5878476" cy="540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2000" y="2645999"/>
            <a:ext cx="5698476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Clustering patch features (k=3) → greedy IoU matching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Không cần nhãn pixel-level nào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6476" y="755999"/>
            <a:ext cx="5878476" cy="270000"/>
          </a:xfrm>
          <a:prstGeom prst="rect">
            <a:avLst/>
          </a:prstGeom>
          <a:solidFill>
            <a:srgbClr val="1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8476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Thiết lập: Hoàn toàn Training-free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6476" y="1025999"/>
            <a:ext cx="5878476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4476" y="1061999"/>
            <a:ext cx="5698476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Không tính một gradient nào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Chỉ dùng patch tokens (frozen)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Kiểm tra: patch features đủ mạnh cho dense task?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6476" y="1763998"/>
            <a:ext cx="5878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3 Backbone so sánh (cùng pipeline):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6476" y="1961998"/>
            <a:ext cx="900000" cy="216000"/>
          </a:xfrm>
          <a:prstGeom prst="rect">
            <a:avLst/>
          </a:prstGeom>
          <a:solidFill>
            <a:srgbClr val="DCE6F5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2476" y="1961998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Backbone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66476" y="1961998"/>
            <a:ext cx="540000" cy="216000"/>
          </a:xfrm>
          <a:prstGeom prst="rect">
            <a:avLst/>
          </a:prstGeom>
          <a:solidFill>
            <a:srgbClr val="DCE6F5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2476" y="1961998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Params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06476" y="1961998"/>
            <a:ext cx="720000" cy="216000"/>
          </a:xfrm>
          <a:prstGeom prst="rect">
            <a:avLst/>
          </a:prstGeom>
          <a:solidFill>
            <a:srgbClr val="DCE6F5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42476" y="1961998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Pretrain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6476" y="2177998"/>
            <a:ext cx="9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02476" y="2177998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DINOv2-S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66476" y="2177998"/>
            <a:ext cx="54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02476" y="2177998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~21M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06476" y="2177998"/>
            <a:ext cx="72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42476" y="2177998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SSL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6476" y="2393998"/>
            <a:ext cx="9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2476" y="2393998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DINOv2-B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66476" y="2393998"/>
            <a:ext cx="54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02476" y="2393998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~86M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06476" y="2393998"/>
            <a:ext cx="72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42476" y="2393998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SSL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66476" y="2609998"/>
            <a:ext cx="9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02476" y="2609998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ViT-B/16 IN-1K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66476" y="2609998"/>
            <a:ext cx="54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02476" y="2609998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~86M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06476" y="2609998"/>
            <a:ext cx="72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42476" y="2609998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Supervised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TN2: Kết quả Zero-Shot Segmentation</a:t>
            </a:r>
          </a:p>
        </p:txBody>
      </p:sp>
      <p:pic>
        <p:nvPicPr>
          <p:cNvPr id="6" name="Picture 5" descr="seg_miou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755999"/>
            <a:ext cx="5986476" cy="86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000" y="1637999"/>
            <a:ext cx="5986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Hình 10: So sánh mIoU — DINOv2 luôn vượt ViT-B/16 ở cả hai phương pháp</a:t>
            </a:r>
          </a:p>
        </p:txBody>
      </p:sp>
      <p:pic>
        <p:nvPicPr>
          <p:cNvPr id="8" name="Picture 7" descr="seg_per_class_i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00" y="1853999"/>
            <a:ext cx="5986476" cy="8279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4000" y="2699998"/>
            <a:ext cx="5986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Hình 11: IoU theo từng class (Prototype): border là điểm yếu chung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4476" y="755999"/>
            <a:ext cx="792000" cy="208800"/>
          </a:xfrm>
          <a:prstGeom prst="rect">
            <a:avLst/>
          </a:prstGeom>
          <a:solidFill>
            <a:srgbClr val="DCE6F5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476" y="755999"/>
            <a:ext cx="792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Backbone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66476" y="755999"/>
            <a:ext cx="540000" cy="208800"/>
          </a:xfrm>
          <a:prstGeom prst="rect">
            <a:avLst/>
          </a:prstGeom>
          <a:solidFill>
            <a:srgbClr val="DCE6F5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4476" y="755999"/>
            <a:ext cx="54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Method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6476" y="755999"/>
            <a:ext cx="468000" cy="208800"/>
          </a:xfrm>
          <a:prstGeom prst="rect">
            <a:avLst/>
          </a:prstGeom>
          <a:solidFill>
            <a:srgbClr val="DCE6F5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4476" y="755999"/>
            <a:ext cx="468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mIoU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476" y="755999"/>
            <a:ext cx="540000" cy="208800"/>
          </a:xfrm>
          <a:prstGeom prst="rect">
            <a:avLst/>
          </a:prstGeom>
          <a:solidFill>
            <a:srgbClr val="DCE6F5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76" y="755999"/>
            <a:ext cx="54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Pix.Acc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4476" y="964799"/>
            <a:ext cx="792000" cy="2088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2476" y="964799"/>
            <a:ext cx="792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DINOv2-S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66476" y="964799"/>
            <a:ext cx="540000" cy="2088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4476" y="964799"/>
            <a:ext cx="54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Proto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06476" y="964799"/>
            <a:ext cx="468000" cy="2088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4476" y="964799"/>
            <a:ext cx="468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62.39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74476" y="964799"/>
            <a:ext cx="540000" cy="2088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76" y="964799"/>
            <a:ext cx="54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81.78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74476" y="1173599"/>
            <a:ext cx="792000" cy="20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2476" y="1173599"/>
            <a:ext cx="792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DINOv2-B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66476" y="1173599"/>
            <a:ext cx="540000" cy="20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4476" y="1173599"/>
            <a:ext cx="54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Proto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06476" y="1173599"/>
            <a:ext cx="468000" cy="20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4476" y="1173599"/>
            <a:ext cx="468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61.90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4476" y="1173599"/>
            <a:ext cx="540000" cy="20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76" y="1173599"/>
            <a:ext cx="54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81.70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74476" y="1382399"/>
            <a:ext cx="792000" cy="20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2476" y="1382399"/>
            <a:ext cx="792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ViT-B/16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66476" y="1382399"/>
            <a:ext cx="540000" cy="20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4476" y="1382399"/>
            <a:ext cx="54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Proto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06476" y="1382399"/>
            <a:ext cx="468000" cy="20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4476" y="1382399"/>
            <a:ext cx="468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55.47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74476" y="1382399"/>
            <a:ext cx="540000" cy="20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76" y="1382399"/>
            <a:ext cx="54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75.46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4476" y="1591199"/>
            <a:ext cx="792000" cy="20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2476" y="1591199"/>
            <a:ext cx="792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DINOv2-S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66476" y="1591199"/>
            <a:ext cx="540000" cy="20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84476" y="1591199"/>
            <a:ext cx="54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KMeans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06476" y="1591199"/>
            <a:ext cx="468000" cy="20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24476" y="1591199"/>
            <a:ext cx="468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49.69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74476" y="1591199"/>
            <a:ext cx="540000" cy="20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92476" y="1591199"/>
            <a:ext cx="54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80.19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74476" y="1799999"/>
            <a:ext cx="792000" cy="2088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2476" y="1799999"/>
            <a:ext cx="792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DINOv2-B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66476" y="1799999"/>
            <a:ext cx="540000" cy="2088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84476" y="1799999"/>
            <a:ext cx="54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KMeans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06476" y="1799999"/>
            <a:ext cx="468000" cy="2088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24476" y="1799999"/>
            <a:ext cx="468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50.31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74476" y="1799999"/>
            <a:ext cx="540000" cy="208800"/>
          </a:xfrm>
          <a:prstGeom prst="rect">
            <a:avLst/>
          </a:prstGeom>
          <a:solidFill>
            <a:srgbClr val="FFF5C8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92476" y="1799999"/>
            <a:ext cx="54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80.84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74476" y="2008799"/>
            <a:ext cx="792000" cy="20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92476" y="2008799"/>
            <a:ext cx="792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ViT-B/16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66476" y="2008799"/>
            <a:ext cx="540000" cy="20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84476" y="2008799"/>
            <a:ext cx="54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KMeans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06476" y="2008799"/>
            <a:ext cx="468000" cy="20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24476" y="2008799"/>
            <a:ext cx="468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43.24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74476" y="2008799"/>
            <a:ext cx="540000" cy="20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92476" y="2008799"/>
            <a:ext cx="54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74.92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74476" y="2235599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Bảng 6: Kết quả Zero-Shot Segmentation trên Oxford-IIIT Pet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74476" y="2433599"/>
            <a:ext cx="5728807" cy="270000"/>
          </a:xfrm>
          <a:prstGeom prst="rect">
            <a:avLst/>
          </a:prstGeom>
          <a:solidFill>
            <a:srgbClr val="1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46476" y="2433599"/>
            <a:ext cx="5584807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 quan sát quan trọng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74476" y="2703599"/>
            <a:ext cx="5728807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82476" y="2739599"/>
            <a:ext cx="5548807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DINOv2 +7 điểm mIoU so với ViT cùng kích thước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DINOv2-S (21M) ≈ DINOv2-B (86M): nhỏ đủ tốt cho dense task nhẹ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Class border yếu (~30%): giới hạn của patch resolution 14×14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TN2: Phân tích Định tính &amp; Tính chất Emergence</a:t>
            </a:r>
          </a:p>
        </p:txBody>
      </p:sp>
      <p:pic>
        <p:nvPicPr>
          <p:cNvPr id="6" name="Picture 5" descr="seg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755999"/>
            <a:ext cx="6474034" cy="14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000" y="2213999"/>
            <a:ext cx="6474034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Hình 12: Từ trái: Original | Ground truth | DINOv2-B Prototype | DINOv2-B KMeans | ViT-B/16 Prototype</a:t>
            </a:r>
          </a:p>
        </p:txBody>
      </p:sp>
      <p:pic>
        <p:nvPicPr>
          <p:cNvPr id="8" name="Picture 7" descr="seg_clustering_em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034" y="755999"/>
            <a:ext cx="5169249" cy="10079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2034" y="1781998"/>
            <a:ext cx="516924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66"/>
                </a:solidFill>
              </a:rPr>
              <a:t>Hình 13: KMeans (k=3) — DINOv2 phân biệt foreground/background tự nhiên; ViT-B/16 bị 'vỡ' thành nhiều mảnh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2034" y="2033998"/>
            <a:ext cx="5169249" cy="270000"/>
          </a:xfrm>
          <a:prstGeom prst="rect">
            <a:avLst/>
          </a:prstGeom>
          <a:solidFill>
            <a:srgbClr val="1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4034" y="2033998"/>
            <a:ext cx="502524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Object-centric emergence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2034" y="2303998"/>
            <a:ext cx="5169249" cy="342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0034" y="2339998"/>
            <a:ext cx="498924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DINOv2 không dùng nhãn nào vẫn sinh ra ranh giới đối tượng rõ nét — tính chất tự phát từ SSL quy mô lớn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2034" y="2753998"/>
            <a:ext cx="5169249" cy="270000"/>
          </a:xfrm>
          <a:prstGeom prst="rect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4034" y="2753998"/>
            <a:ext cx="502524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Failure case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2034" y="3023998"/>
            <a:ext cx="5169249" cy="342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0034" y="3059998"/>
            <a:ext cx="498924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Quả bóng nâu bị nhầm vào lớp pet do texture tương đồng — mô hình chỉ thấy những gì có trong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889000"/>
            <a:ext cx="12188952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4. Đánh giá &amp; Ứng dụng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Đánh giá Tổng hợp: Điểm mạnh &amp; Hạn chế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55999"/>
            <a:ext cx="5878476" cy="270000"/>
          </a:xfrm>
          <a:prstGeom prst="rect">
            <a:avLst/>
          </a:prstGeom>
          <a:solidFill>
            <a:srgbClr val="1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Điểm mạnh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1025999"/>
            <a:ext cx="5878476" cy="1134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" y="1061999"/>
            <a:ext cx="5698476" cy="10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Out-of-the-box features mạnh: linear probe hội tụ nhanh trên domain mới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Patch features chất lượng cao: dense task không cần gradient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Object-centric emergence: clustering tự phát sinh ranh giới đối tượng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DINOv2-S đủ tốt: 21M params, phù hợp thiết bị hạn chế tài nguyên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Pipeline rất nhẹ: few-shot (10 ảnh) hoặc zero-shot (clustering)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6476" y="755999"/>
            <a:ext cx="5878476" cy="270000"/>
          </a:xfrm>
          <a:prstGeom prst="rect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8476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Hạn chế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6476" y="1025999"/>
            <a:ext cx="5878476" cy="1134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476" y="1061999"/>
            <a:ext cx="5698476" cy="10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Chi phí pretrain: hàng nghìn GPU-hours — không thể tái tạo độc lập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Patch resolution: class border IoU thấp — không phân giải pixel-level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Thiếu interpretability: cần Grad-CAM / Attention Maps cho ứng dụng y tế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Phụ thuộc reference: reference không đa dạng → tổng quát hóa kém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Bias dữ liệu: web data có bias địa lý và nhân khẩu học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Khả năng Ứng dụng Thực tế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55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Y tế (Medical Imaging)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1025999"/>
            <a:ext cx="5878476" cy="936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" y="1061999"/>
            <a:ext cx="5698476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Phân loại bệnh lý với rất ít nhãn (few-shot linear probe)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Phân đoạn tổn thương zero-shot từ vài ảnh mẫu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Giảm mạnh chi phí gán nhãn pixel-level bởi chuyên gia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Đã kiểm chứng: SkinCancerMNIST 80% accuracy không nhãn pretrain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" y="1907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000" y="1907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Nông nghiệp thông minh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000" y="2177999"/>
            <a:ext cx="5878476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000" y="2213999"/>
            <a:ext cx="5698476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Phát hiện sâu bệnh trên lá từ ảnh drone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Phân đoạn vùng bệnh với rất ít mẫu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DINOv2-S phù hợp triển khai trên thiết bị di động, edge devices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6476" y="755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8476" y="755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Xe tự lái / Robot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6476" y="1025999"/>
            <a:ext cx="5878476" cy="936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4476" y="1061999"/>
            <a:ext cx="5698476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Segmentation ngữ nghĩa không cần fine-tune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Depth estimation từ frozen patch features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Hiểu cấu trúc không gian phức tạp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DINOv2-S phù hợp cho embedded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6476" y="1907999"/>
            <a:ext cx="5878476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8476" y="1907999"/>
            <a:ext cx="573447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Tìm kiếm &amp; Truy xuất ảnh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6476" y="2177999"/>
            <a:ext cx="5878476" cy="738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4476" y="2213999"/>
            <a:ext cx="5698476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CLS features + KoLeo → semantic search chất lượng cao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Ứng dụng: e-commerce, digital asset management, kho ảnh y tế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Không cần gán nhãn, dùng ngay frozen embedding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1999"/>
            <a:ext cx="12188952" cy="39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251999"/>
            <a:ext cx="11900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Kết luận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55999"/>
            <a:ext cx="11900952" cy="27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755999"/>
            <a:ext cx="11756952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Những điều DINOv2 chứng minh được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1025999"/>
            <a:ext cx="11900952" cy="9360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" y="1061999"/>
            <a:ext cx="1172095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1. SSL có thể cạnh tranh với weakly-supervised learning nếu dữ liệu curated tốt và scale đủ lớn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2. Patch-level features từ SSL chứa thông tin không gian đủ mạnh cho dense tasks (segmentation, depth) mà không cần fine-tune backbone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3. Object-centric emergence: đặc tính tự phát giúp clustering không nhãn vẫn tạo ra ranh giới đối tượng rõ nét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4. Frozen visual foundation model không phụ thuộc caption/nhãn — tiền đề cho AI đa phương thức thế hệ tiếp theo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2195999"/>
            <a:ext cx="11324952" cy="576000"/>
          </a:xfrm>
          <a:prstGeom prst="rect">
            <a:avLst/>
          </a:prstGeom>
          <a:solidFill>
            <a:srgbClr val="FFF5C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249999"/>
            <a:ext cx="11324952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Công thức thành công của DINOv2: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65999"/>
            <a:ext cx="11324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366"/>
                </a:solidFill>
              </a:rPr>
              <a:t>Dữ liệu curated  +  SSL recipe ổn định  +  Scale hiệu quả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UET-VNU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069000"/>
            <a:ext cx="1218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Cảm ơn thầy/cô và các bạn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